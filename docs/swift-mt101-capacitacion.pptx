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· MENSAJERÍA DE PAGOS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 MT101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 de negocio campo a campo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cada campo del Request for Transfer, qué cambia en el proceso al usar uno u otro,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cómo configurar los escenarios de cada cliente tarea por tarea.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59536" cy="457200"/>
          </a:xfrm>
          <a:prstGeom prst="roundRect">
            <a:avLst>
              <a:gd name="adj" fmla="val 12000"/>
            </a:avLst>
          </a:prstGeom>
          <a:solidFill>
            <a:srgbClr val="2A35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:20: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47088" y="4434840"/>
            <a:ext cx="978408" cy="457200"/>
          </a:xfrm>
          <a:prstGeom prst="roundRect">
            <a:avLst>
              <a:gd name="adj" fmla="val 12000"/>
            </a:avLst>
          </a:prstGeom>
          <a:solidFill>
            <a:srgbClr val="2A35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:28D: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90088" y="4434840"/>
            <a:ext cx="978408" cy="457200"/>
          </a:xfrm>
          <a:prstGeom prst="roundRect">
            <a:avLst>
              <a:gd name="adj" fmla="val 12000"/>
            </a:avLst>
          </a:prstGeom>
          <a:solidFill>
            <a:srgbClr val="2A35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:50H: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33088" y="4434840"/>
            <a:ext cx="859536" cy="457200"/>
          </a:xfrm>
          <a:prstGeom prst="roundRect">
            <a:avLst>
              <a:gd name="adj" fmla="val 12000"/>
            </a:avLst>
          </a:prstGeom>
          <a:solidFill>
            <a:srgbClr val="2A35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57216" y="4434840"/>
            <a:ext cx="859536" cy="457200"/>
          </a:xfrm>
          <a:prstGeom prst="roundRect">
            <a:avLst>
              <a:gd name="adj" fmla="val 12000"/>
            </a:avLst>
          </a:prstGeom>
          <a:solidFill>
            <a:srgbClr val="2A35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:21: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81344" y="4434840"/>
            <a:ext cx="978408" cy="457200"/>
          </a:xfrm>
          <a:prstGeom prst="roundRect">
            <a:avLst>
              <a:gd name="adj" fmla="val 12000"/>
            </a:avLst>
          </a:prstGeom>
          <a:solidFill>
            <a:srgbClr val="2A35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:32B: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24344" y="4434840"/>
            <a:ext cx="978408" cy="457200"/>
          </a:xfrm>
          <a:prstGeom prst="roundRect">
            <a:avLst>
              <a:gd name="adj" fmla="val 12000"/>
            </a:avLst>
          </a:prstGeom>
          <a:solidFill>
            <a:srgbClr val="2A35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:57A: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67344" y="4434840"/>
            <a:ext cx="859536" cy="457200"/>
          </a:xfrm>
          <a:prstGeom prst="roundRect">
            <a:avLst>
              <a:gd name="adj" fmla="val 12000"/>
            </a:avLst>
          </a:prstGeom>
          <a:solidFill>
            <a:srgbClr val="2A35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:59: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91472" y="4434840"/>
            <a:ext cx="859536" cy="457200"/>
          </a:xfrm>
          <a:prstGeom prst="roundRect">
            <a:avLst>
              <a:gd name="adj" fmla="val 12000"/>
            </a:avLst>
          </a:prstGeom>
          <a:solidFill>
            <a:srgbClr val="2A35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:70: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0" y="4434840"/>
            <a:ext cx="978408" cy="457200"/>
          </a:xfrm>
          <a:prstGeom prst="roundRect">
            <a:avLst>
              <a:gd name="adj" fmla="val 12000"/>
            </a:avLst>
          </a:prstGeom>
          <a:solidFill>
            <a:srgbClr val="2A35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:71A: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 · Equipo de plataforma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MT101? — Request for Transfer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989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orden, no un pago
</a:t>
            </a:r>
            <a:pPr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corporativo (o quien lo representa) pide a su banco ejecutar uno o más débitos sobre su cuenta. El MT101 no mueve fondos por sí mismo: el banco receptor lo convierte en pagos reales (MT103, cámara local o transferencia interna).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989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+ N transacciones
</a:t>
            </a:r>
            <a:pPr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mensaje tiene una Secuencia A (datos comunes: quién ordena, cuándo ejecutar) y una Secuencia B que se repite por cada transacción (cuánto, a quién, por dónde).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5989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campo cambia el negocio
</a:t>
            </a:r>
            <a:pPr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campos deciden quién ordena, de qué cuenta se debita, por qué bancos viaja el pago, qué referencia ve cada parte y quién paga las comisiones. Configurarlos bien ES configurar el escenario del cliente.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995160" y="1417320"/>
            <a:ext cx="4617720" cy="841248"/>
          </a:xfrm>
          <a:prstGeom prst="roundRect">
            <a:avLst>
              <a:gd name="adj" fmla="val 9783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ORDENANTE (cliente corporativo)
</a:t>
            </a:r>
            <a:pPr algn="l" indent="0" marL="0">
              <a:buNone/>
            </a:pPr>
            <a:r>
              <a:rPr lang="en-US" sz="105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de la cuenta a debitar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61320" y="1655064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50F/G/H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69480" y="22768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envía MT101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95160" y="2606040"/>
            <a:ext cx="4617720" cy="841248"/>
          </a:xfrm>
          <a:prstGeom prst="roundRect">
            <a:avLst>
              <a:gd name="adj" fmla="val 9783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RECEPTOR DEL MT101
</a:t>
            </a:r>
            <a:pPr algn="l" indent="0" marL="0">
              <a:buNone/>
            </a:pPr>
            <a:r>
              <a:rPr lang="en-US" sz="105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la cuenta y ejecuta el débito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61320" y="2843784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69480" y="34655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genera el pago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95160" y="3794760"/>
            <a:ext cx="4617720" cy="841248"/>
          </a:xfrm>
          <a:prstGeom prst="roundRect">
            <a:avLst>
              <a:gd name="adj" fmla="val 9783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DEL BENEFICIARIO
</a:t>
            </a:r>
            <a:pPr algn="l" indent="0" marL="0">
              <a:buNone/>
            </a:pPr>
            <a:r>
              <a:rPr lang="en-US" sz="105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el beneficiario tiene su cuenta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61320" y="4032504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69480" y="46542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acredita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95160" y="4983480"/>
            <a:ext cx="4617720" cy="841248"/>
          </a:xfrm>
          <a:prstGeom prst="roundRect">
            <a:avLst>
              <a:gd name="adj" fmla="val 9783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BENEFICIARIO
</a:t>
            </a:r>
            <a:pPr algn="l" indent="0" marL="0">
              <a:buNone/>
            </a:pPr>
            <a:r>
              <a:rPr lang="en-US" sz="105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los fondos (menos comisiones según 71A)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61320" y="5221224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TÉCNICA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 de un mensaje FIN: los 5 bloques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4480560" cy="4206240"/>
          </a:xfrm>
          <a:prstGeom prst="roundRect">
            <a:avLst>
              <a:gd name="adj" fmla="val 1957"/>
            </a:avLst>
          </a:prstGeom>
          <a:solidFill>
            <a:srgbClr val="141A45"/>
          </a:solidFill>
          <a:ln w="9525">
            <a:solidFill>
              <a:srgbClr val="E1E9F6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{1:F01BANKPEPLAXXX0000000000}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{2:I101BCPLPEPLXXXXN}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{3:{121:550e8400-e29b-41d4-a716-...}}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{4: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:20:MT101-K3F9-0001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:28D:1/3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:50H:/0011223344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ANDINA SAC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:30:260720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:21:TX-1001-1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:32B:PEN15500,50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:59:/00987654321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SUR SAC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:71A:SHA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-}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{5:{CHK:000000000000}}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56692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verdad en el código: FinMt101Formatter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49240" y="1399032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{1}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0760" y="1371600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Header  </a:t>
            </a:r>
            <a:pPr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envía: LT emisor de 12 caracteres (BIC + terminal lógico).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envelope.senderLt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49240" y="2386584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{2}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80760" y="2359152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Header  </a:t>
            </a:r>
            <a:pPr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I101 = mensaje MT101 de salida, LT receptor y prioridad (N normal / U urgente).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envelope.receiverLt · envelope.priority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349240" y="3374136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{3}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3346704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Header  </a:t>
            </a:r>
            <a:pPr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UETR {121}: identificador único de rastreo extremo a extremo (SWIFT gpi).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envelope.uetrStrategy: perMessage | fixed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49240" y="4361688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{4}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4334256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del mensaje  </a:t>
            </a:r>
            <a:pPr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contenido de negocio: los tags :20:, :30:, :32B:… organizados en Secuencias A y B. Es lo que documentamos campo a campo.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sequenceA + transactionMappings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349240" y="5349240"/>
            <a:ext cx="566928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{5}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5321808"/>
            <a:ext cx="5577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Trailer  </a:t>
            </a:r>
            <a:pPr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Checksums que calcula la red SWIFT; nosotros emitimos un placeholder.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constante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TÉCNICA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4: Secuencia A (cabecera) y Secuencia B (transacciones)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1672" cy="1481328"/>
          </a:xfrm>
          <a:prstGeom prst="roundRect">
            <a:avLst>
              <a:gd name="adj" fmla="val 5556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A — una sola vez por mensaje
</a:t>
            </a:r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comunes a todo el lote: referencia del mensaje, paginación, quién ordena, fecha de ejecución.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:20: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563624" y="2377440"/>
            <a:ext cx="75438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:21R: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46020" y="2377440"/>
            <a:ext cx="754380" cy="329184"/>
          </a:xfrm>
          <a:prstGeom prst="roundRect">
            <a:avLst>
              <a:gd name="adj" fmla="val 16667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:28D: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28416" y="2377440"/>
            <a:ext cx="1906524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:50a: instructing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62956" y="2377440"/>
            <a:ext cx="1618488" cy="329184"/>
          </a:xfrm>
          <a:prstGeom prst="roundRect">
            <a:avLst>
              <a:gd name="adj" fmla="val 16667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:50a: ordering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09460" y="2377440"/>
            <a:ext cx="75438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:52a: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91856" y="237744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778240" y="237744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:25: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11091672" cy="2011680"/>
          </a:xfrm>
          <a:prstGeom prst="roundRect">
            <a:avLst>
              <a:gd name="adj" fmla="val 4091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B — se repite por cada transacción (cada fila de la tabla)
</a:t>
            </a:r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de cada pago: referencia, importe, ruta bancaria, beneficiario, comisiones.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06908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:21: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563624" y="4069080"/>
            <a:ext cx="75438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:21F: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446020" y="4069080"/>
            <a:ext cx="75438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:23E: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28416" y="4069080"/>
            <a:ext cx="754380" cy="329184"/>
          </a:xfrm>
          <a:prstGeom prst="roundRect">
            <a:avLst>
              <a:gd name="adj" fmla="val 16667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:32B: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10812" y="4069080"/>
            <a:ext cx="1618488" cy="329184"/>
          </a:xfrm>
          <a:prstGeom prst="roundRect">
            <a:avLst>
              <a:gd name="adj" fmla="val 16667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:50a: ordering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57316" y="4069080"/>
            <a:ext cx="75438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:52a: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39712" y="4069080"/>
            <a:ext cx="75438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:56a: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22108" y="4069080"/>
            <a:ext cx="75438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:57a: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" y="4553712"/>
            <a:ext cx="754380" cy="329184"/>
          </a:xfrm>
          <a:prstGeom prst="roundRect">
            <a:avLst>
              <a:gd name="adj" fmla="val 16667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:59a: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659636" y="4553712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:70: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446020" y="4553712"/>
            <a:ext cx="75438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:77B: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28416" y="4553712"/>
            <a:ext cx="75438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:33B: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10812" y="4553712"/>
            <a:ext cx="754380" cy="329184"/>
          </a:xfrm>
          <a:prstGeom prst="roundRect">
            <a:avLst>
              <a:gd name="adj" fmla="val 16667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:71A: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93208" y="4553712"/>
            <a:ext cx="754380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:25A: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75604" y="4553712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:36: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5440680"/>
            <a:ext cx="347472" cy="274320"/>
          </a:xfrm>
          <a:prstGeom prst="roundRect">
            <a:avLst>
              <a:gd name="adj" fmla="val 20000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5440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 (el ordenante :50a: es obligatorio en A o en cada B — nunca en ambas; ver modo de débito)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5806440"/>
            <a:ext cx="347472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58064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 — se usa según el escenario del cliente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49640" y="5394960"/>
            <a:ext cx="3090672" cy="777240"/>
          </a:xfrm>
          <a:prstGeom prst="roundRect">
            <a:avLst>
              <a:gd name="adj" fmla="val 10588"/>
            </a:avLst>
          </a:prstGeom>
          <a:solidFill>
            <a:srgbClr val="F5E7C8"/>
          </a:solidFill>
          <a:ln w="9525">
            <a:solidFill>
              <a:srgbClr val="B98A1B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</a:t>
            </a:r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mensaje = 1×A + N×B. Si el lote no cabe, se parte en varios mensajes encadenados con :28D:.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A · CAMPO A CAMPO (1/2)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y paginación: :20:, :21R:, :28D: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00200" y="1298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Y PARA QUÉ SIRVE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618488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:20: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00200" y="1600200"/>
            <a:ext cx="6537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Sender's Reference — obligatorio, máx. 16 caracteres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del mensaje para el emisor. Es LA llave de todo: conciliación, reclamos e idempotencia — si el banco recibe dos mensajes con el mismo :20:, rechaza el duplicado. Cambiarlo de formato rompe la trazabilidad con el banco.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21040" y="16002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
</a:t>
            </a:r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sendersReferenceTemplate con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${messageIndex} y ${batchCode}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(base36 del executionId). Reintentar un proceso NO duplica pagos: el :20: se repite y el banco lo descarta.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18688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:21R: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600200" y="3200400"/>
            <a:ext cx="6537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Specified Reference — opcional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global que el cliente quiere ver en su cargo en cuenta / extracto. Si se informa, el cliente concilia todo el lote con una sola referencia; si no, ve el detalle según cada transacción. Útil para planillas: “PLANILLA-JUL-2026”.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21040" y="3200400"/>
            <a:ext cx="3291840" cy="1307592"/>
          </a:xfrm>
          <a:prstGeom prst="roundRect">
            <a:avLst>
              <a:gd name="adj" fmla="val 6294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
</a:t>
            </a:r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sequenceA.customerSpecifiedReference (literal en la config del proceso). Sin efecto en validación: es puro valor de negocio para el ordenante.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:28D: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600200" y="4736592"/>
            <a:ext cx="6537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Index / Total — obligatorio (5n/5n)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 un lote grande en varios MT101 encadenados: 1/3, 2/3, 3/3. El banco espera recibir el juego completo. Sin él, un lote de 10.000 pagos no cabría: un FIN admite ~10 KB por mensaje.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21040" y="4736592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
</a:t>
            </a:r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calcula la fragmentación automática del build (maxTransactionsPerMessage + maxBytesPerMessage). Regla STRUCT.FIELD_28D_FORMAT: index ≤ total ≤ 99999.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A · CAMPO A CAMPO (2/2)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Fecha, banco de la cuenta y autorización: :30:, :52a:, :25: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00200" y="1298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Y PARA QUÉ SIRVE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618488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00200" y="1600200"/>
            <a:ext cx="6537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Execution Date — obligatorio (yyMMdd)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en la que el cliente pide ejecutar los débitos; no es la fecha de envío del mensaje. Es la palanca de “pago programado”: enviar hoy un lote para debitar el viernes. El banco la respeta como fecha valor solicitada.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21040" y="16002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
</a:t>
            </a:r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ISO, ${today} o ${today+2bd} (T+2 días hábiles, lun–vie; sin feriados nacionales — acordar con el cliente). Regla: REQUESTED_DATE_REQUIRED.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18688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:52a: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600200" y="3200400"/>
            <a:ext cx="65379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Servicing Institution — opcional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que mantiene la cuenta a debitar cuando NO es el receptor del mensaje: el cliente envía todo por un banco concentrador y éste re-envía (forwarding). Si la cuenta está en el banco receptor, se omite. Puede ir en A (para todo el lote) o por transacción en B.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21040" y="32004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
</a:t>
            </a:r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sequenceA.accountServicingInstitution {option, bic}. Regla ACCOUNT_SERVICING_PLACEMENT: en A o en B, sin mezclas parciales.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:25: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600200" y="4736592"/>
            <a:ext cx="6537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 — opcional (35x)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autorización adicional acordada bilateralmente con el banco: clave de convenio, código de contrato de cash management. Solo se usa si el banco del cliente lo exige en su convenio.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21040" y="4736592"/>
            <a:ext cx="3291840" cy="1307592"/>
          </a:xfrm>
          <a:prstGeom prst="roundRect">
            <a:avLst>
              <a:gd name="adj" fmla="val 6294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
</a:t>
            </a:r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sequenceA.authorisation (literal). Se emite tal cual si está presente.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MÁS IMPORTANTE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 50a: quién instruye y a quién se le debita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roles distintos comparten el tag 50. </a:t>
            </a:r>
            <a:pPr indent="0" marL="0">
              <a:buNone/>
            </a:pPr>
            <a:r>
              <a:rPr lang="en-US" sz="12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Instructing Party (50C/50L): quién está autorizado a dar la orden — p. ej. la matriz del grupo o un tercero con poder. Ordering Customer (50F/50G/50H): el dueño de la cuenta que se debita. Pueden ser la misma empresa o no.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34440"/>
                <a:gridCol w="3017520"/>
                <a:gridCol w="59253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usarla / qué cambia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BIC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instructor es una entidad con BIC: identificación estándar, screening automático en el banco.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caracteres libres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 sin BIC (código de convenio acordado). Depende de acuerdos bilaterales con el banco.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Identificación estructurada + nombre/dirección en líneas numeradas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Máxima calidad de datos para cumplimiento (AML). Corredores exigentes lo requieren; menos rechazos por datos incompletos.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/cuenta + BIC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ordenante tiene BIC propio (corporativo). Identificación fuerte y compacta.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/cuenta + nombre y dirección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más común en clientes corporativos: número de cuenta + razón social. Nuestro caso típico.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623560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F5E7C8"/>
          </a:solidFill>
          <a:ln w="9525">
            <a:solidFill>
              <a:srgbClr val="B98A1B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sistema: </a:t>
            </a:r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opción es literal en la config de cada parte — {option: "H", account: …, nameAndAddress: […]} — con valores fijos (Secuencia A) o leídos de columnas de la tabla (Secuencia B). El sistema no deriva la opción: elegirla bien es parte del diseño del escenario con el banco del cliente.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DE NEGOCIO Nº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de débito: ¿dónde va el ordenante :50a:?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singleDebit — :50a: en Secuencia A
</a:t>
            </a:r>
            <a:pPr algn="l"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Todas las transacciones se debitan de UNA misma cuenta, declarada una sola vez en la cabecera.
</a:t>
            </a:r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típico: </a:t>
            </a:r>
            <a:pPr algn="l"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paga su planilla o a sus proveedores desde su cuenta operativa.
</a:t>
            </a:r>
            <a:pPr algn="l" indent="0" marL="0">
              <a:buNone/>
            </a:pPr>
            <a:r>
              <a:rPr lang="en-US" sz="1100" b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</a:t>
            </a:r>
            <a:pPr algn="l" indent="0" marL="0">
              <a:buNone/>
            </a:pPr>
            <a:r>
              <a:rPr lang="en-US" sz="110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sequenceA.orderingCustomer (fijo); prohibido definirlo en transactionMappings.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99632" y="137160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multipleDebit / subsidiary — :50a: en cada B
</a:t>
            </a:r>
            <a:pPr algn="l"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Cada transacción declara su propio ordenante: cada fila puede debitar una cuenta distinta.
</a:t>
            </a:r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típico: </a:t>
            </a:r>
            <a:pPr algn="l"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tesorería centralizada que ordena por sus filiales; cada filial paga desde su cuenta.
</a:t>
            </a:r>
            <a:pPr algn="l" indent="0" marL="0">
              <a:buNone/>
            </a:pPr>
            <a:r>
              <a:rPr lang="en-US" sz="1100" b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</a:t>
            </a:r>
            <a:pPr algn="l" indent="0" marL="0">
              <a:buNone/>
            </a:pPr>
            <a:r>
              <a:rPr lang="en-US" sz="110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transactionMappings.orderingCustomer con accountField / nameAndAddressFields (columnas); prohibido en Secuencia 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BEEEF"/>
          </a:solidFill>
          <a:ln w="9525">
            <a:solidFill>
              <a:srgbClr val="8E2F3C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→ RECHAZADO.  </a:t>
            </a:r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ordenante nunca puede estar en A y en B a la vez: el build valida la configuración (debitAccountMode explícito o inferido) y MT101_VALIDATE re-valida el mensaje con la regla STRUCT.ORDERING_CUSTOMER_PLACEMENT. Doble barrera: config inválida no arranca; mensaje inválido cae en cuarentena.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7150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 en la práctica: el extracto del cliente (un cargo global vs. un cargo por filial), los permisos/poderes que valida el banco y cómo se estructura la tabla fuente (con o sin columnas de cuenta ordenante).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B · CAMPO A CAMPO (1/2)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transacción: referencia, importe y comisiones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00200" y="129844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Y PARA QUÉ SIRVE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591056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:21: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00200" y="1572768"/>
            <a:ext cx="6537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Reference — obligatorio, 16 car., único en el mensaje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cada transacción individual: es la llave para consultar estado, reclamar o anular UN pago del lote sin tocar el resto.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21040" y="1572768"/>
            <a:ext cx="3291840" cy="1188720"/>
          </a:xfrm>
          <a:prstGeom prst="roundRect">
            <a:avLst>
              <a:gd name="adj" fmla="val 6923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
</a:t>
            </a:r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transactionReferenceTemplate, default TX-${_processExecutionId}-${recordNumber}; admite columnas del cliente (${col}). Regla TX_REF_UNIQUE.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B98A1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:32B: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600200" y="2907792"/>
            <a:ext cx="6537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/ Amount — obligatorio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 ISO 4217 + importe a transferir. En FIN el decimal es coma y no hay separador de miles: PEN15500,50. Máx. 15 dígitos significativos.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21040" y="2907792"/>
            <a:ext cx="3291840" cy="1188720"/>
          </a:xfrm>
          <a:prstGeom prst="roundRect">
            <a:avLst>
              <a:gd name="adj" fmla="val 6923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
</a:t>
            </a:r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amount.currencyField / valueField (columnas). Un monto no numérico NO rompe el lote: esa fila cae a cuarentena. Reglas AMOUNT_POSITIVE, CURRENCY_FORMAT.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31596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:71A: Details of Charges — obligatorio. </a:t>
            </a:r>
            <a:pPr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quién paga las comisiones bancarias del pago — cambia el monto que recibe el beneficiario: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800600"/>
            <a:ext cx="3593592" cy="1572768"/>
          </a:xfrm>
          <a:prstGeom prst="roundRect">
            <a:avLst>
              <a:gd name="adj" fmla="val 5233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98A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
</a:t>
            </a:r>
            <a:pPr algn="l" indent="0" marL="0">
              <a:buNone/>
            </a:pPr>
            <a:r>
              <a:rPr lang="en-US" sz="11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ordenante asume TODAS las comisiones. El beneficiario recibe el importe completo.
</a:t>
            </a:r>
            <a:pPr algn="l" indent="0" marL="0">
              <a:buNone/>
            </a:pPr>
            <a:r>
              <a:rPr lang="en-US" sz="105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proveedor exige el monto exacto de la factura.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25112" y="4800600"/>
            <a:ext cx="3593592" cy="1572768"/>
          </a:xfrm>
          <a:prstGeom prst="roundRect">
            <a:avLst>
              <a:gd name="adj" fmla="val 5233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98A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
</a:t>
            </a:r>
            <a:pPr algn="l" indent="0" marL="0">
              <a:buNone/>
            </a:pPr>
            <a:r>
              <a:rPr lang="en-US" sz="11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Compartidas: el ordenante paga las de su banco; el beneficiario, las del resto de la cadena.
</a:t>
            </a:r>
            <a:pPr algn="l" indent="0" marL="0">
              <a:buNone/>
            </a:pPr>
            <a:r>
              <a:rPr lang="en-US" sz="105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mercado; el default habitual.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01584" y="4800600"/>
            <a:ext cx="3593592" cy="1572768"/>
          </a:xfrm>
          <a:prstGeom prst="roundRect">
            <a:avLst>
              <a:gd name="adj" fmla="val 5233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98A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
</a:t>
            </a:r>
            <a:pPr algn="l" indent="0" marL="0">
              <a:buNone/>
            </a:pPr>
            <a:r>
              <a:rPr lang="en-US" sz="11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beneficiario asume todo: recibe el importe menos todas las comisiones.
</a:t>
            </a:r>
            <a:pPr algn="l" indent="0" marL="0">
              <a:buNone/>
            </a:pPr>
            <a:r>
              <a:rPr lang="en-US" sz="105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Cobranzas o acuerdos internos del grupo.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B · CAMPO A CAMPO (2/2)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ruta del pago y el mensaje al beneficiario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campos de “parte” de la Secuencia B dibujan el camino que recorre el dinero: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002536" cy="1783080"/>
          </a:xfrm>
          <a:prstGeom prst="roundRect">
            <a:avLst>
              <a:gd name="adj" fmla="val 4615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:50a:
</a:t>
            </a:r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ordenante
</a:t>
            </a:r>
            <a:pPr algn="l" indent="0" marL="0">
              <a:buNone/>
            </a:pPr>
            <a:r>
              <a:rPr lang="en-US" sz="10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sale el dinero (según modo de débito).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51176" y="2468880"/>
            <a:ext cx="269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20924" y="1783080"/>
            <a:ext cx="2002536" cy="1783080"/>
          </a:xfrm>
          <a:prstGeom prst="roundRect">
            <a:avLst>
              <a:gd name="adj" fmla="val 4615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:52a:
</a:t>
            </a:r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la cuenta
</a:t>
            </a:r>
            <a:pPr algn="l" indent="0" marL="0">
              <a:buNone/>
            </a:pPr>
            <a:r>
              <a:rPr lang="en-US" sz="10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no es el receptor del mensaje (forwarding).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23460" y="2468880"/>
            <a:ext cx="269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93208" y="1783080"/>
            <a:ext cx="2002536" cy="1783080"/>
          </a:xfrm>
          <a:prstGeom prst="roundRect">
            <a:avLst>
              <a:gd name="adj" fmla="val 4615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:56a:
</a:t>
            </a:r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Intermediario
</a:t>
            </a:r>
            <a:pPr algn="l" indent="0" marL="0">
              <a:buNone/>
            </a:pPr>
            <a:r>
              <a:rPr lang="en-US" sz="10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Corresponsal forzado. Si se omite, el banco elige la ruta. (Extensión: aún no mapeado)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95744" y="2468880"/>
            <a:ext cx="269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65492" y="1783080"/>
            <a:ext cx="2002536" cy="1783080"/>
          </a:xfrm>
          <a:prstGeom prst="roundRect">
            <a:avLst>
              <a:gd name="adj" fmla="val 4615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:57a:
</a:t>
            </a:r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del beneficiario
</a:t>
            </a:r>
            <a:pPr algn="l" indent="0" marL="0">
              <a:buNone/>
            </a:pPr>
            <a:r>
              <a:rPr lang="en-US" sz="10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 si la cuenta destino está en otro banco. Hoy: opción A (BIC) desde columnas.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68028" y="2468880"/>
            <a:ext cx="269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37776" y="1783080"/>
            <a:ext cx="2002536" cy="1783080"/>
          </a:xfrm>
          <a:prstGeom prst="roundRect">
            <a:avLst>
              <a:gd name="adj" fmla="val 4615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F6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:59a:
</a:t>
            </a:r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Beneficiario
</a:t>
            </a:r>
            <a:pPr algn="l" indent="0" marL="0">
              <a:buNone/>
            </a:pPr>
            <a:r>
              <a:rPr lang="en-US" sz="10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y/o BIC + nombre. Obligatorio: sin cuenta ni BIC el mensaje se rechaza.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00200" y="38404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Y PARA QUÉ SIRVE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133088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:70: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600200" y="4114800"/>
            <a:ext cx="6537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 Information — opcional, 4 líneas × 35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que viaja HASTA el beneficiario para que aplique el pago: número de factura, contrato, periodo. Distinto de :21R: (que solo ve el ordenante en su extracto).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21040" y="4114800"/>
            <a:ext cx="3291840" cy="1124712"/>
          </a:xfrm>
          <a:prstGeom prst="roundRect">
            <a:avLst>
              <a:gd name="adj" fmla="val 7317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
</a:t>
            </a:r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remittanceInformationField (columna de la tabla). Regla FIELD_70_4X35 y charset SWIFT X.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413248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:77B: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600200" y="5394960"/>
            <a:ext cx="6537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 — opcional, 3 líneas × 35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regulatoria que exigen ciertos corredores (motivo de pago para el banco central, códigos de balanza de pagos).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21040" y="5394960"/>
            <a:ext cx="3291840" cy="941832"/>
          </a:xfrm>
          <a:prstGeom prst="roundRect">
            <a:avLst>
              <a:gd name="adj" fmla="val 8738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SISTEMA
</a:t>
            </a:r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validado (FIELD_77B_3X35); aún sin mapeo desde tabla — extensión.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EXTENSIÓN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Campos modelados que aún no se mapean desde la tabla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y el formatter FIN ya los soportan </a:t>
            </a:r>
            <a:pPr indent="0" marL="0">
              <a:buNone/>
            </a:pPr>
            <a:r>
              <a:rPr lang="en-US" sz="12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 el mensaje los trae, se emiten y se validan), pero el build desde tabla todavía no los rellena. Cuando un cliente los necesite, se exponen en transactionMappings — es una extensión controlada, no un desarrollo desde cero.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120640"/>
                <a:gridCol w="45994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 sirve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 de cliente que lo activaría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:23E: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Code: URGP (urgente), RTGS (liquidación bruta), INTC (intra-compañía), CHQB (pagar con cheque), PHON (avisar por teléfono)…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cliente pide priorización, canal específico o tratamiento especial por transacción.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:21F: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 del contrato de cambio (FX deal) pactado con el banco.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Débito en una moneda y pago en otra con tipo de cambio pre-pactado.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:36: + :33B: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cambio instruido + moneda/importe original de la orden.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Pagos con conversión: “debita USD, paga PEN al tipo pactado”.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:77B: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 regulatorio del corredor.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Corredores donde el regulador exige motivo de pago.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:25A: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 de cargos: debitar comisiones de una cuenta distinta a la del pago.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que separa cuenta operativa y cuenta de gastos bancarios.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:56a: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intermediario forzado en la ruta.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o banco exige un corresponsal específico.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NECESIDADES A CAMPOS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“Si el cliente pide…” → qué campo o config tocar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685032"/>
                <a:gridCol w="3657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cliente pide…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/ configuración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 en el proceso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“Quiero ver una sola referencia en mi extracto”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:21R: customerSpecifiedReference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cargo del lote se concilia con una referencia global.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“El proveedor debe recibir el monto exacto”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:71A: = OUR (columna o valor fijo)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Comisiones al ordenante; el beneficiario recibe el 100%.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“Programar el pago para el viernes”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:30: = ${today+Nbd} o fecha ISO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banco ejecuta en la fecha pedida, no al recibir.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“Cada filial paga desde su propia cuenta”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debitAccountMode = multipleDebit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:50a: por transacción, leído de columnas de la tabla.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“Que el proveedor sepa qué factura le pago”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:70: remittanceInformationField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texto viaja hasta el beneficiario para aplicar el pago.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“Mis referencias internas en cada pago”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:21: transactionReferenceTemplate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y reclamos por pago usando la referencia del cliente.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“Cargar 1 millón de filas”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maxTransactionsPerMessage / maxBytesPerMessage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mensajes encadenados :28D: i/total, sin tocar campos.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“Reglas propias de mi banco”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ruleSet bank:XXX (reglas en BD)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Segundo MT101_VALIDATE con reglas del banco, sin deploy.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CONFIGURABILIDAD FRONT / BACK (1/5)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se configura y qué va fijo? Bloques 1, 2, 3 y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general: </a:t>
            </a:r>
            <a:pPr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solo hace configurable lo que el emisor posee legítimamente; lo que estampa la red o el terminal SWIFT del banco va fijo (placeholder).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55648"/>
          <a:ext cx="1109167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788920"/>
                <a:gridCol w="1600200"/>
                <a:gridCol w="501091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/ clave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¿Configurable?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 y 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{1} F01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 (FIN) + Service ID 01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2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fijo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Hardcode del formatter. El 01 es Service ID, NO prioridad (21 = ACK/NAK de la red).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{1} LT emisor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envelope.senderLt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Front: campo Sender LT. Gate: regla STRUCT.ENVELOPE_LT_FORMAT (12 alfanum.).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{1} sesión + secuencia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"0000000000"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2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fijo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estampa el terminal SWIFT (SAA) del banco al transmitir; el emisor los deja en ceros.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{2} I + 101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Input + tipo de mensaje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2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fijo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implica el task type MT101_BUILD_FROM_TABLE (otro MT = otro formatter).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{2} LT receptor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envelope.receiverLt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Front: campo Receiver LT.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{2} prioridad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envelope.priority (def. N)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Front: select N/U/S. Ojo: S es de mensajes de sistema (inválida para MT101) y el back no la valida.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{3} {121} UETR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uetrStrategy: perMessage|fixed|none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Front: select de estrategia (none = sin bloque 3). El UUID fijo (envelope.uetr) solo por JSON.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{3} otros (108, 113, 119…)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emiten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6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extensión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 los parsea todos y los tolera; solo el 121 se materializa al modelo.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{5} trailer CHK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000000000000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2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fijo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checksum lo calcula la red SWIFT.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CONFIGURABILIDAD FRONT / BACK (2/5)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del bloque 4 · Secuencia A (cabecera)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3703320"/>
                <a:gridCol w="1691640"/>
                <a:gridCol w="46451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 en configuration_json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¿En el form?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:20: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sequenceA.sendersReferenceTemplate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(template)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Placeholders ${batchCode}, ${messageIndex}. El literal directo (sendersReference) solo por JSON.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:21R: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sequenceA.customerSpecifiedReference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6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Literal puro (sin plantillas). Sin campo en el form; re-guardar desde la UI lo pierde.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:28D: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maxTransactionsPerMessage / maxBytesPerMessage (raíz)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6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Nunca se escribe a mano: lo calcula la fragmentación. El campo del form escribe splitBy.*, que el back NO lee.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:50a: instr.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sequenceA.instructingParty {option C|L}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6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Form: solo opción L, habilitado únicamente en modo subsidiary. La opción C (BIC) solo por JSON.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:50a: order.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sequenceA.orderingCustomer {F/G/H, account, nameAndAddress}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Habilitado y serializado solo si debitAccountMode = singleDebit.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:52a: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sequenceA.accountServicingInstitution {A/C, bic}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También existe por transacción en Secuencia B; colocación validada (A o B, no ambas).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:30: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sequenceA.requestedExecutionDate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ISO, ${today} o ${today+Nbd} (días hábiles lun–vie).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:25: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sequenceA.authorisation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6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Literal de convenio con el banco; sin campo en el form.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«Sí» = editable en el formulario MT101 · «Solo JSON» = editar configuration_json vía API o BD (no hay editor JSON crudo en la UI para esta tarea).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CONFIGURABILIDAD FRONT / BACK (3/5)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del bloque 4 · Secuencia B (por transacción)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794760"/>
                <a:gridCol w="1554480"/>
                <a:gridCol w="427939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 en transactionMappings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¿En el form?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:21: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transactionReferenceTemplate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TX-${_processExecutionId}-${recordNumber}; admite columnas ${col}.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:32B: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amount {currencyField, valueField}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Ambos leídos de columnas de la tabla.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:50a: order.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orderingCustomer {option, accountField, bicField, nameAndAddressFields}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si multipleDebit / subsidiary (opción default H).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:52a: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accountServicingInstitution {option, accountField, bicField}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Versión por transacción del banco de la cuenta.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:57a: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accountWithInstitution {option, bicField}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6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fijado a opción A (BIC por columna); otras opciones = extensión.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:59a: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beneficiary {option ''/A/F, accountField, bicField, nameAndAddressFields}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Cubre :59: (sin letra), :59A: y :59F:.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:70: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remittanceInformationField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Columna; valida FIELD_70_4X35 + charset SWIFT-X.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:71A: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detailsOfChargesField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 con OUR / SHA / BEN por fila.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:23E: :21F: :33B: :36: :77B: :25A: :56a: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sin clave de mapeo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F6A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extensión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5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Modelados y el formatter los emitiría; falta exponerlos en transactionMappings.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CONFIGURABILIDAD FRONT / BACK (4/5)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«Modo cuenta débito»: no es un campo SWIFT, es el interruptor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429000" cy="960120"/>
          </a:xfrm>
          <a:prstGeom prst="roundRect">
            <a:avLst>
              <a:gd name="adj" fmla="val 8571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 </a:t>
            </a:r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«Modo cuenta debito»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(label literal de la UI, form MT101)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05072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34840" y="1371600"/>
            <a:ext cx="3429000" cy="960120"/>
          </a:xfrm>
          <a:prstGeom prst="roundRect">
            <a:avLst>
              <a:gd name="adj" fmla="val 8571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 </a:t>
            </a:r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debitAccountMode en la RAÍZ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configuration_json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91272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21040" y="1371600"/>
            <a:ext cx="3429000" cy="960120"/>
          </a:xfrm>
          <a:prstGeom prst="roundRect">
            <a:avLst>
              <a:gd name="adj" fmla="val 8571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 </a:t>
            </a:r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DÓNDE se coloca el :50a: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qué campos del form se habilitan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3593592" cy="20574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singleDebit
</a:t>
            </a:r>
            <a:pPr algn="l" indent="0" marL="0">
              <a:buNone/>
            </a:pPr>
            <a:r>
              <a:rPr lang="en-US" sz="108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 sequenceA.orderingCustomer y OMITE el de transactionMappings.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:50a: una vez en la cabecera: una sola cuenta debita todo el lote.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25112" y="2651760"/>
            <a:ext cx="3593592" cy="20574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multipleDebit
</a:t>
            </a:r>
            <a:pPr algn="l" indent="0" marL="0">
              <a:buNone/>
            </a:pPr>
            <a:r>
              <a:rPr lang="en-US" sz="108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Omite el ordenante de la cabecera y serializa transactionMappings.orderingCustomer (columnas).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:50a: en cada transacción: cuenta por fila.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01584" y="2651760"/>
            <a:ext cx="3593592" cy="20574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subsidiary
</a:t>
            </a:r>
            <a:pPr algn="l" indent="0" marL="0">
              <a:buNone/>
            </a:pPr>
            <a:r>
              <a:rPr lang="en-US" sz="108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colocación que multipleDebit + agrega sequenceA.instructingParty (50L) en la cabecera.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matriz instruye; cada filial debita.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BEEEF"/>
          </a:solidFill>
          <a:ln w="9525">
            <a:solidFill>
              <a:srgbClr val="8E2F3C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E2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no se elige: se infiere y es error.  </a:t>
            </a:r>
            <a:pPr algn="l" indent="0" marL="0">
              <a:buNone/>
            </a:pPr>
            <a:r>
              <a:rPr lang="en-US" sz="11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JSON declara ordenante en A y en B a la vez, el build lanza IllegalArgumentException y STRUCT.ORDERING_CUSTOMER_PLACEMENT re-valida el mensaje. Si el modo se omite, el back lo infiere de dónde declaraste el ordenante. Para la colocación, el back trata subsidiary igual que multipleDebit — el 50L extra lo aporta el front.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CONFIGURABILIDAD FRONT / BACK (5/5)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Trampas conocidas al configurar (estado actual del código)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5E7C8"/>
          </a:solidFill>
          <a:ln w="9525">
            <a:solidFill>
              <a:srgbClr val="B98A1B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El límite de transacciones de la UI no tiene efecto
</a:t>
            </a:r>
            <a:pPr algn="l" indent="0" marL="0">
              <a:buNone/>
            </a:pPr>
            <a:r>
              <a:rPr lang="en-US" sz="11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 guarda splitBy.maxTransactionsPerMessage (default 999), pero el back lee maxTransactionsPerMessage y maxBytesPerMessage en la RAÍZ del JSON (defaults 100 / 10.000). Para cambiar la fragmentación real: editar las claves raíz por JSON.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99632" y="141732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5E7C8"/>
          </a:solidFill>
          <a:ln w="9525">
            <a:solidFill>
              <a:srgbClr val="B98A1B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Re-guardar desde la UI pierde las claves solo-JSON
</a:t>
            </a:r>
            <a:pPr algn="l" indent="0" marL="0">
              <a:buNone/>
            </a:pPr>
            <a:r>
              <a:rPr lang="en-US" sz="11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 reconstruye el configuration_json completo desde su draft, sin merge. Si la tarea tiene :21R:, :25:, sendersReference literal, uetr fija, maxBytesPerMessage, fragmentSetIdTemplate o replaceExisting a mano, se pierden al guardar desde el formulario.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La prioridad S es una trampa del select
</a:t>
            </a:r>
            <a:pPr algn="l" indent="0" marL="0">
              <a:buNone/>
            </a:pPr>
            <a:r>
              <a:rPr lang="en-US" sz="11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reserva S para mensajes de sistema (MT 0xx); un MT101 solo admite N o U — un gateway estricto respondería NAK. Además el back emite charAt(0) de cualquier valor y ninguna regla STRUCT valida la prioridad.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99632" y="365760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 que VALIDATE no cubre, lo cubre el banco
</a:t>
            </a:r>
            <a:pPr algn="l" indent="0" marL="0">
              <a:buNone/>
            </a:pPr>
            <a:r>
              <a:rPr lang="en-US" sz="11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safeLt rellena LTs cortos con X (la regla ENVELOPE_LT_FORMAT lo marca después), y :21R: no tiene regla de longitud (estándar: máx. 16). Un valor largo pasa VALIDATE y lo rechazaría recién el banco.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trampas 1 y 2 tienen tarea de corrección propuesta; mientras tanto, la configuración avanzada se gestiona por JSON (API/BD) y no se re-guarda desde el formulario.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EN EL SISTEMA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outbound: de la tabla del cliente al banco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2A3578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FILE_READ
</a:t>
            </a:r>
            <a:pPr algn="l"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 fuente del cliente: CSV, XLSX, TXT, JSON, XML o pain.001 (SFTP, S3, filesystem…).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27248" y="2057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74136" y="15544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2A3578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DB_WRITE
</a:t>
            </a:r>
            <a:pPr algn="l"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cada fila en staging_record: desde aquí todo es paginado y reanudable.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52744" y="2057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99632" y="15544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MT101_BUILD_FROM_TABLE
</a:t>
            </a:r>
            <a:pPr algn="l"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los mensajes campo a campo según la config; fragmenta y calcula :28D:.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0" y="2057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25128" y="15544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MT101_VALIDATE
</a:t>
            </a:r>
            <a:pPr algn="l"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las reglas SWIFT + reglas del banco. Válido → sigue; inválido → cuarentena.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25128" y="3611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MT101_ARCHIVE
</a:t>
            </a:r>
            <a:pPr algn="l"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inmutable: hash SHA-256, cifrado opcional. Marca ARCHIVED.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78240" y="4114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99632" y="3611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MT101_PAY
</a:t>
            </a:r>
            <a:pPr algn="l"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Despacha al gateway (REST/SFTP). En prod solo envía lo ARCHIVED (money-path).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52744" y="4114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74136" y="3611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2A3578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MT101_STATUS
</a:t>
            </a:r>
            <a:pPr algn="l"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 recibe confirmaciones del banco (query / callback / poll).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27248" y="4114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2A3578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MT101_RECONCILE
</a:t>
            </a:r>
            <a:pPr algn="l"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enviado vs. confirmado; levanta excepciones (montos, faltantes).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88136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8A1B"/>
                </a:solidFill>
              </a:rPr>
              <a:t>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5E7C8"/>
          </a:solidFill>
          <a:ln w="9525">
            <a:solidFill>
              <a:srgbClr val="B98A1B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Money-path fail-closed: </a:t>
            </a:r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deja estado persistido (BUILT → VALIDATED → ARCHIVED → enviado) y PAY solo toma fragmentos ARCHIVED. Un fragmento rechazado queda en cuarentena sin frenar a los demás, y los reintentos son idempotentes: nunca se paga dos veces.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POR TAREA (1/4)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MT101_BUILD_FROM_TABLE: de filas a mensajes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212080" cy="4983480"/>
          </a:xfrm>
          <a:prstGeom prst="roundRect">
            <a:avLst>
              <a:gd name="adj" fmla="val 1651"/>
            </a:avLst>
          </a:prstGeom>
          <a:solidFill>
            <a:srgbClr val="141A45"/>
          </a:solidFill>
          <a:ln w="9525">
            <a:solidFill>
              <a:srgbClr val="E1E9F6"/>
            </a:solidFill>
          </a:ln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"format": "FIN",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"maxTransactionsPerMessage": 100,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"maxBytesPerMessage": 10000,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"envelope": { "senderLt": "BANKPEPLAXXX",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"receiverLt": "BCPLPEPLXXXX",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"uetrStrategy": "perMessage" },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"sequenceA": {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"sendersReferenceTemplate":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"M${batchCode}-${messageIndex}",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"requestedExecutionDate": "${today+1bd}",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"orderingCustomer": { "option": "H",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"account": "0011223344",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"nameAndAddress": ["EMPRESA ANDINA SAC"] } },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"transactionMappings": {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"amount": {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"currencyField": "moneda",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"valueField": "importe" },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"beneficiary": { "accountField": "cta_benef",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"nameAndAddressFields": ["razon_social"] },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"accountWithInstitution": { "option": "A",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"bicField": "bic_banco" },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"remittanceInformationField": "factura",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"detailsOfChargesField": "comisiones" }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6080760" y="1371600"/>
            <a:ext cx="5577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Pagina, no carga en memoria
</a:t>
            </a:r>
            <a:pPr indent="0" marL="0">
              <a:buNone/>
            </a:pPr>
            <a:r>
              <a:rPr lang="en-US" sz="11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staging_record por keyset (id &gt; lastId): 1 millón de filas sin agotar memoria. El task type MT101_BUILD en memoria fue removido.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80760" y="2377440"/>
            <a:ext cx="5577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 en dos fases
</a:t>
            </a:r>
            <a:pPr indent="0" marL="0">
              <a:buNone/>
            </a:pPr>
            <a:r>
              <a:rPr lang="en-US" sz="11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planifica límites midiendo bytes reales del FIN (bisecta si excede maxBytesPerMessage); luego materializa cada fragmento con su :28D: definitivo y lo persiste en mt101_build_fragment.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80760" y="3383280"/>
            <a:ext cx="5577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Idempotente por diseño
</a:t>
            </a:r>
            <a:pPr indent="0" marL="0">
              <a:buNone/>
            </a:pPr>
            <a:r>
              <a:rPr lang="en-US" sz="11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(fragment_set_id, senders_reference): re-ejecutar reemplaza el set anterior (replaceExisting), nunca duplica.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80760" y="4389120"/>
            <a:ext cx="5577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Reproceso selectivo
</a:t>
            </a:r>
            <a:pPr indent="0" marL="0">
              <a:buNone/>
            </a:pPr>
            <a:r>
              <a:rPr lang="en-US" sz="11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source.recordIndexIn permite reconstruir SOLO las filas corregidas que salieron de cuarentena.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80760" y="5394960"/>
            <a:ext cx="55778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formatos de salida
</a:t>
            </a:r>
            <a:pPr indent="0" marL="0">
              <a:buNone/>
            </a:pPr>
            <a:r>
              <a:rPr lang="en-US" sz="11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(default), XML o FIN crudo — misma config, mismo modelo, distinto formatter.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POR TAREA (2/4)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MT101_VALIDATE: el guardián antes del dinero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593592" cy="1344168"/>
          </a:xfrm>
          <a:prstGeom prst="roundRect">
            <a:avLst>
              <a:gd name="adj" fmla="val 6122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
</a:t>
            </a:r>
            <a:pPr algn="l" indent="0" marL="0">
              <a:buNone/>
            </a:pPr>
            <a:r>
              <a:rPr lang="en-US" sz="108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:20: y :21: de 1–16 caracteres; :21: único dentro del mensaje.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25112" y="1417320"/>
            <a:ext cx="3593592" cy="1344168"/>
          </a:xfrm>
          <a:prstGeom prst="roundRect">
            <a:avLst>
              <a:gd name="adj" fmla="val 6122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Importes
</a:t>
            </a:r>
            <a:pPr algn="l" indent="0" marL="0">
              <a:buNone/>
            </a:pPr>
            <a:r>
              <a:rPr lang="en-US" sz="108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:32B: monto &gt; 0, moneda ISO 4217 (3 letras), máx. 15 dígitos; :71A: ∈ {OUR, BEN, SHA}.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01584" y="1417320"/>
            <a:ext cx="3593592" cy="1344168"/>
          </a:xfrm>
          <a:prstGeom prst="roundRect">
            <a:avLst>
              <a:gd name="adj" fmla="val 6122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
</a:t>
            </a:r>
            <a:pPr algn="l" indent="0" marL="0">
              <a:buNone/>
            </a:pPr>
            <a:r>
              <a:rPr lang="en-US" sz="108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de 8 u 11; :59a: exige cuenta o BIC; colocación de :50a:/:52a: en A o B, nunca ambas.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98648"/>
            <a:ext cx="3593592" cy="1344168"/>
          </a:xfrm>
          <a:prstGeom prst="roundRect">
            <a:avLst>
              <a:gd name="adj" fmla="val 6122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y charset
</a:t>
            </a:r>
            <a:pPr algn="l" indent="0" marL="0">
              <a:buNone/>
            </a:pPr>
            <a:r>
              <a:rPr lang="en-US" sz="108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Charset SWIFT X (sin ñ, tildes ni símbolos raros); cuentas ≤ 34; líneas ≤ 35; :70: 4×35; :77B: 3×35.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25112" y="2898648"/>
            <a:ext cx="3593592" cy="1344168"/>
          </a:xfrm>
          <a:prstGeom prst="roundRect">
            <a:avLst>
              <a:gd name="adj" fmla="val 6122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
</a:t>
            </a:r>
            <a:pPr algn="l" indent="0" marL="0">
              <a:buNone/>
            </a:pPr>
            <a:r>
              <a:rPr lang="en-US" sz="108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 transacción; payload FIN ≤ 10.000 bytes; :28D: coherente; LT emisor/receptor de 12.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01584" y="2898648"/>
            <a:ext cx="3538728" cy="1344168"/>
          </a:xfrm>
          <a:prstGeom prst="roundRect">
            <a:avLst>
              <a:gd name="adj" fmla="val 6122"/>
            </a:avLst>
          </a:prstGeom>
          <a:solidFill>
            <a:srgbClr val="F5E7C8"/>
          </a:solidFill>
          <a:ln w="9525">
            <a:solidFill>
              <a:srgbClr val="B98A1B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reglas STRUCT.* propias
</a:t>
            </a:r>
            <a:pPr algn="l" indent="0" marL="0">
              <a:buNone/>
            </a:pPr>
            <a:r>
              <a:rPr lang="en-US" sz="108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estructurales del sistema (no las NVR licenciadas de SWIFT), deterministas y auditables por código.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actúa
</a:t>
            </a:r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por páginas los fragmentos BUILT y marca cada uno VALIDATED o REJECTED — un fragmento inválido no contamina al resto del lote. Cada problema queda registrado en mt101_validation_issue con código, severidad y campo. Config clave: ruleSet (qué juego de reglas), failOn (umbral de severidad que rechaza, default ERROR), pageSize. Los REJECTED entran a cuarentena: se corrigen en la fuente y se reconstruyen selectivamente.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POR TAREA (2/4) · CONTINUACIÓN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por banco y circuito de cuarentena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proceso encadena varios VALIDATE con distinto juego de reglas: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
ruleSet: structural-mvp
</a:t>
            </a:r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SWIFT estructurales,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iguales para todos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05072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26280" y="18288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
ruleSet: bank:BCP
</a:t>
            </a:r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del banco del cliente,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definidas como datos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82712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03920" y="18288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8A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 → PAY
</a:t>
            </a:r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continúa lo que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pasó ambos filtros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5440680" cy="2697480"/>
          </a:xfrm>
          <a:prstGeom prst="roundRect">
            <a:avLst>
              <a:gd name="adj" fmla="val 3051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del banco como datos, no como código
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Viven en la tabla payment_validation_rule (rule_set = "bank:BCP") como expresiones JEXL o regex, con severidad E/W/I. El administrador de plataforma las crea y ajusta sin deploy: cuando el banco de un cliente cambia un requisito, se agrega la regla y el siguiente lote ya la aplica.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99632" y="3520440"/>
            <a:ext cx="5440680" cy="2697480"/>
          </a:xfrm>
          <a:prstGeom prst="roundRect">
            <a:avLst>
              <a:gd name="adj" fmla="val 3051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de cuarentena
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 fila o fragmento REJECTED no avanza (PAY nunca lo ve).</a:t>
            </a: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El issue dice exactamente qué campo y qué regla fallaron.</a:t>
            </a: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 corrige el dato en la fuente del cliente.</a:t>
            </a: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Rebuild selectivo con source.recordIndexIn: solo las filas corregidas.</a:t>
            </a: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El :20: idempotente evita duplicar lo que ya salió bien.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POR TAREA (3/4)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 de validar: archivo, pago, estado y conciliación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MT101_ARCHIVE
</a:t>
            </a:r>
            <a:pPr algn="l" indent="0" marL="0">
              <a:buNone/>
            </a:pPr>
            <a:r>
              <a:rPr lang="en-US" sz="113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inmutable de lo que se va a enviar: hash SHA-256 del payload, cifrado AES-GCM-256 opcional, envelope + transacciones archivadas. Marca los fragmentos ARCHIVED — el pase obligatorio hacia el pago.
</a:t>
            </a:r>
            <a:pPr algn="l" indent="0" marL="0">
              <a:buNone/>
            </a:pPr>
            <a:r>
              <a:rPr lang="en-US" sz="103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Config: encryptColumn + encryptionSecretRef, pageSize.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99632" y="141732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MT101_PAY
</a:t>
            </a:r>
            <a:pPr algn="l" indent="0" marL="0">
              <a:buNone/>
            </a:pPr>
            <a:r>
              <a:rPr lang="en-US" sz="113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Despacha al gateway del banco vía REST o SFTP. En producción solo envía fragmentos ARCHIVED (direct-list deshabilitado). Lleva un ledger de intención de despacho: un reintento re-consulta, no re-envía.
</a:t>
            </a:r>
            <a:pPr algn="l" indent="0" marL="0">
              <a:buNone/>
            </a:pPr>
            <a:r>
              <a:rPr lang="en-US" sz="103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único paso que saca dinero: máxima protección.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904488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MT101_STATUS
</a:t>
            </a:r>
            <a:pPr algn="l" indent="0" marL="0">
              <a:buNone/>
            </a:pPr>
            <a:r>
              <a:rPr lang="en-US" sz="113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o consulta confirmaciones del banco (modos query, callback, poll) y las guarda en mt101_confirmation. Resuelve los envíos UNCERTAIN del PAY (¿llegó o no llegó?).
</a:t>
            </a:r>
            <a:pPr algn="l" indent="0" marL="0">
              <a:buNone/>
            </a:pPr>
            <a:r>
              <a:rPr lang="en-US" sz="103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Suspendable: puede esperar el callback sin bloquear.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99632" y="3904488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MT101_RECONCILE
</a:t>
            </a:r>
            <a:pPr algn="l" indent="0" marL="0">
              <a:buNone/>
            </a:pPr>
            <a:r>
              <a:rPr lang="en-US" sz="113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lo archivado contra lo confirmado en una ventana de tiempo y levanta excepciones: SENT_WITHOUT_CONFIRM, CONFIRM_WITHOUT_SENT, AMOUNT_MISMATCH.
</a:t>
            </a:r>
            <a:pPr algn="l" indent="0" marL="0">
              <a:buNone/>
            </a:pPr>
            <a:r>
              <a:rPr lang="en-US" sz="1030" i="1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operativo del día: nada queda sin explicar.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POR TAREA (4/4)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camino inverso: recibir MT101 (inbound)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sistema actúa del lado del banco receptor: lee MT101 que envían los clientes y los convierte en pagos internos.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2093976" cy="1737360"/>
          </a:xfrm>
          <a:prstGeom prst="roundRect">
            <a:avLst>
              <a:gd name="adj" fmla="val 4737"/>
            </a:avLst>
          </a:prstGeom>
          <a:solidFill>
            <a:srgbClr val="2A3578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FILE_READ (SWIFT_MT)
</a:t>
            </a:r>
            <a:pPr algn="l"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que trocea archivos FIN crudos en mensajes individuales.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2606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07208" y="1920240"/>
            <a:ext cx="2093976" cy="1737360"/>
          </a:xfrm>
          <a:prstGeom prst="roundRect">
            <a:avLst>
              <a:gd name="adj" fmla="val 4737"/>
            </a:avLst>
          </a:prstGeom>
          <a:solidFill>
            <a:srgbClr val="2A3578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MT101_PARSE_FROM_TABLE
</a:t>
            </a:r>
            <a:pPr algn="l"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 cada FIN al modelo canónico Mt101Message; persiste PARSED. Escala a 1M+.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64608" y="2606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65776" y="1920240"/>
            <a:ext cx="2093976" cy="1737360"/>
          </a:xfrm>
          <a:prstGeom prst="roundRect">
            <a:avLst>
              <a:gd name="adj" fmla="val 4737"/>
            </a:avLst>
          </a:prstGeom>
          <a:solidFill>
            <a:srgbClr val="2A3578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MT101_VALIDATE
</a:t>
            </a:r>
            <a:pPr algn="l"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Mismas reglas estructurales que en outbound: lo que entra también se valida.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23176" y="2606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24344" y="1920240"/>
            <a:ext cx="2093976" cy="1737360"/>
          </a:xfrm>
          <a:prstGeom prst="roundRect">
            <a:avLst>
              <a:gd name="adj" fmla="val 4737"/>
            </a:avLst>
          </a:prstGeom>
          <a:solidFill>
            <a:srgbClr val="2A3578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MT101_ROUTE
</a:t>
            </a:r>
            <a:pPr algn="l"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JEXL deciden el destino de cada transacción según sus campos.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81744" y="2606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82912" y="1920240"/>
            <a:ext cx="2093976" cy="1737360"/>
          </a:xfrm>
          <a:prstGeom prst="roundRect">
            <a:avLst>
              <a:gd name="adj" fmla="val 4737"/>
            </a:avLst>
          </a:prstGeom>
          <a:solidFill>
            <a:srgbClr val="2A3578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MT101_INBOUND_DELIVER
</a:t>
            </a:r>
            <a:pPr algn="l" indent="0" marL="0">
              <a:buNone/>
            </a:pPr>
            <a:r>
              <a:rPr lang="en-US" sz="9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 vía DB o REST; marca DELIVERED.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11091672" cy="2011680"/>
          </a:xfrm>
          <a:prstGeom prst="roundRect">
            <a:avLst>
              <a:gd name="adj" fmla="val 4091"/>
            </a:avLst>
          </a:prstGeom>
          <a:solidFill>
            <a:srgbClr val="F5E7C8"/>
          </a:solidFill>
          <a:ln w="9525">
            <a:solidFill>
              <a:srgbClr val="B98A1B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los campos se leen, no se escriben — y el ruteo depende de ellos
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MT101_ROUTE inspeccionan los campos del mensaje para decidir el destino: un :57a: interno → BOOK_TRANSFER (transferencia entre cuentas propias); un :57a: de banco local → LOCAL_CLEARING (cámara); un BIC extranjero → MT103_OUTBOUND (pago internacional). Entender qué significa cada campo es lo que permite escribir estas reglas para cada cliente receptor.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ESCENARIOS DE CLIENTE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recetas típicas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Planilla / proveedores, una cuenta
</a:t>
            </a:r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singleDebit con :50H: fijo en Secuencia A (cuenta + razón social del cliente). :71A: = OUR si los proveedores exigen monto exacto. :70: desde la columna de factura. :30: = ${today+1bd} para pagar el día hábil siguiente.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99632" y="141732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Grupo multi-empresa
</a:t>
            </a:r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multipleDebit: :50H: por fila, con accountField y nameAndAddressFields leídos de columnas (cuenta y razón social de cada filial). :21: con transactionReferenceTemplate que incluya el código de filial para conciliar por empresa.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904488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Corredor exigente en cumplimiento
</a:t>
            </a:r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:50F: estructurado para el ordenante (datos completos AML) + segundo VALIDATE con ruleSet bank:XXX cargado en BD con los requisitos del banco. Menos rechazos del banco = menos cuarentena operativa.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99632" y="3904488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EEF3FB"/>
          </a:solidFill>
          <a:ln w="9525">
            <a:solidFill>
              <a:srgbClr val="E1E9F6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Alto volumen (100k–1M filas)
</a:t>
            </a:r>
            <a:pPr algn="l" indent="0" marL="0">
              <a:buNone/>
            </a:pPr>
            <a:r>
              <a:rPr lang="en-US" sz="1150" dirty="0">
                <a:solidFill>
                  <a:srgbClr val="25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Fragmentación automática (100 tx / 10 KB por mensaje) → N mensajes con :28D: i/total. :20: con ${batchCode}-${messageIndex} para idempotencia. VALIDATE / ARCHIVE / PAY paginados con pageSize.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chuleta: lo mínimo que un MT101 válido necesita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28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MT101 · Capacitación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67160" y="6528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2A3578"/>
          </a:solidFill>
          <a:ln w="9525">
            <a:solidFill>
              <a:srgbClr val="2A3578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presentes
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Mensaje: 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:20: referencia · :28D: índice/total · :30: fecha de ejecución · :50a: ordenante (en A o en cada B)
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transacción:  </a:t>
            </a:r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:21: referencia única · :32B: moneda e importe · :59a: beneficiario · :71A: comisiones (OUR/SHA/BEN)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99632" y="1417320"/>
            <a:ext cx="5440680" cy="2834640"/>
          </a:xfrm>
          <a:prstGeom prst="roundRect">
            <a:avLst>
              <a:gd name="adj" fmla="val 2903"/>
            </a:avLst>
          </a:prstGeom>
          <a:solidFill>
            <a:srgbClr val="2A3578"/>
          </a:solidFill>
          <a:ln w="9525">
            <a:solidFill>
              <a:srgbClr val="2A3578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mirar en el repo
</a:t>
            </a:r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FinMt101Formatter — tags y formato FIN exactos</a:t>
            </a: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Mt101BuildTaskProvider — mapeo tabla → campos</a:t>
            </a: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Mt101StructuralRules — las 21 reglas de validación</a:t>
            </a: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Mt101AllTasksProcessE2EIT — config completa de ejemplo</a:t>
            </a:r>
            <a:endParaRPr lang="en-US" sz="120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specs/008-mensajeria-pagos — especificaciones funcionales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que hay que llevarse: </a:t>
            </a:r>
            <a:pPr indent="0" marL="0">
              <a:buNone/>
            </a:pPr>
            <a:r>
              <a:rPr lang="en-US" sz="15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un cliente no es “llenar un JSON” — es decidir quién ordena (50a), desde dónde se debita (modo de débito), cuándo (30), por dónde viaja (52/56/57), qué ve cada parte (21R/70) y quién paga las comisiones (71A). El pipeline hace el resto: validar, archivar, pagar y conciliar con idempotencia de punta a punta.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Integration Hub</dc:creator>
  <cp:lastModifiedBy>Integration Hub</cp:lastModifiedBy>
  <cp:revision>1</cp:revision>
  <dcterms:created xsi:type="dcterms:W3CDTF">2026-07-20T23:32:13Z</dcterms:created>
  <dcterms:modified xsi:type="dcterms:W3CDTF">2026-07-20T23:32:13Z</dcterms:modified>
</cp:coreProperties>
</file>